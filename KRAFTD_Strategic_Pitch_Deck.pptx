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600" b="1">
                <a:solidFill>
                  <a:srgbClr val="FFFFFF"/>
                </a:solidFill>
              </a:defRPr>
            </a:pPr>
            <a:r>
              <a:t>KRAFTD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>
                <a:solidFill>
                  <a:srgbClr val="FF6600"/>
                </a:solidFill>
              </a:defRPr>
            </a:pPr>
            <a:r>
              <a:t>Intelligence Equity in Supply Chains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C8C8C8"/>
                </a:solidFill>
              </a:defRPr>
            </a:pPr>
            <a:r>
              <a:t>January 2026 | Series A Investment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2400" b="1">
                <a:solidFill>
                  <a:srgbClr val="003366"/>
                </a:solidFill>
              </a:defRPr>
            </a:pPr>
            <a:r>
              <a:t>Enterprise Supply Chains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33333"/>
                </a:solidFill>
              </a:defRPr>
            </a:pPr>
            <a:r>
              <a:t>ERP systems, clean data, APIs, dashboards, AI/ML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400" b="1">
                <a:solidFill>
                  <a:srgbClr val="FF6600"/>
                </a:solidFill>
              </a:defRPr>
            </a:pPr>
            <a:r>
              <a:t>SME Supply Chains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33333"/>
                </a:solidFill>
              </a:defRPr>
            </a:pPr>
            <a:r>
              <a:t>Spreadsheets, emails, manual tracking, zero intelligence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 b="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2000" b="1">
                <a:solidFill>
                  <a:srgbClr val="003366"/>
                </a:solidFill>
              </a:defRPr>
            </a:pPr>
            <a:r>
              <a:t>80% of supply chain operators have zero intelligent visibility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The Opportunity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2200" b="1">
                <a:solidFill>
                  <a:srgbClr val="333333"/>
                </a:solidFill>
              </a:defRPr>
            </a:pPr>
            <a:r>
              <a:t>Global Supply Chain: $118 Trillion/Year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36699"/>
                </a:solidFill>
              </a:defRPr>
            </a:pPr>
            <a:r>
              <a:t>Enterprise-served (Coupa, SAP): $500B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FF6600"/>
                </a:solidFill>
              </a:defRPr>
            </a:pPr>
            <a:r>
              <a:t>SME/Supplier segment (UNSERVED): $2.5 Trillion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 b="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2200" b="1">
                <a:solidFill>
                  <a:srgbClr val="333333"/>
                </a:solidFill>
              </a:defRPr>
            </a:pPr>
            <a:r>
              <a:t>GCC Region Addressable Market: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33333"/>
                </a:solidFill>
              </a:defRPr>
            </a:pPr>
            <a:r>
              <a:t>Saudi Arabia: $550B | UAE: $300B | Others: $600B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 b="1">
                <a:solidFill>
                  <a:srgbClr val="003366"/>
                </a:solidFill>
              </a:defRPr>
            </a:pPr>
            <a:r>
              <a:t>Total GCC: $1.45 Trillion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Why Incumbents Cannot Compete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3931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3366"/>
                </a:solidFill>
              </a:defRPr>
            </a:pPr>
            <a:r>
              <a:t>What Coupa Requires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3931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600"/>
            </a:pPr>
            <a:r>
              <a:t>✗ ERP System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/>
            </a:pPr>
            <a:r>
              <a:t>✗ Clean data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/>
            </a:pPr>
            <a:r>
              <a:t>✗ IT integration team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/>
            </a:pPr>
            <a:r>
              <a:t>✗ $500K-$1M budget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/>
            </a:pPr>
            <a:r>
              <a:t>✗ 3-6 month deployment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/>
            </a:pPr>
            <a:r>
              <a:t>✗ Min. $50M revenue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/>
            </a:pPr>
            <a:r>
              <a:t>→ Only 0.3% of supply chain operators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005840"/>
            <a:ext cx="3931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6600"/>
                </a:solidFill>
              </a:defRPr>
            </a:pPr>
            <a:r>
              <a:t>What KRAFTD Requires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1463040"/>
            <a:ext cx="3931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600"/>
            </a:pPr>
            <a:r>
              <a:t>✓ Browser access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/>
            </a:pPr>
            <a:r>
              <a:t>✓ Any documents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/>
            </a:pPr>
            <a:r>
              <a:t>✓ $5K-$50K/month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/>
            </a:pPr>
            <a:r>
              <a:t>✓ 2-4 week onboarding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/>
            </a:pPr>
            <a:r>
              <a:t>✓ Any company size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/>
            </a:pPr>
            <a:r>
              <a:t>✓ No prerequisites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/>
            </a:pPr>
            <a:r>
              <a:t>→ 85% of supply chain operators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The Solution: Translation Layer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2000" b="1">
                <a:solidFill>
                  <a:srgbClr val="333333"/>
                </a:solidFill>
              </a:defRPr>
            </a:pPr>
            <a:r>
              <a:t>Takes messy reality...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 b="0">
                <a:solidFill>
                  <a:srgbClr val="333333"/>
                </a:solidFill>
              </a:defRPr>
            </a:pPr>
            <a:r>
              <a:t>PDFs, invoices, contracts, customs forms, emails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 b="1">
                <a:solidFill>
                  <a:srgbClr val="333333"/>
                </a:solidFill>
              </a:defRPr>
            </a:pPr>
            <a:r>
              <a:t>↓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 b="1">
                <a:solidFill>
                  <a:srgbClr val="333333"/>
                </a:solidFill>
              </a:defRPr>
            </a:pPr>
            <a:r>
              <a:t>Extracts structured intelligence...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 b="0">
                <a:solidFill>
                  <a:srgbClr val="333333"/>
                </a:solidFill>
              </a:defRPr>
            </a:pPr>
            <a:r>
              <a:t>95%+ accuracy, actionable insights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 b="1">
                <a:solidFill>
                  <a:srgbClr val="333333"/>
                </a:solidFill>
              </a:defRPr>
            </a:pPr>
            <a:r>
              <a:t>↓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 b="1">
                <a:solidFill>
                  <a:srgbClr val="333333"/>
                </a:solidFill>
              </a:defRPr>
            </a:pPr>
            <a:r>
              <a:t>Provides decision support...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 b="0">
                <a:solidFill>
                  <a:srgbClr val="333333"/>
                </a:solidFill>
              </a:defRPr>
            </a:pPr>
            <a:r>
              <a:t>Price trends, supplier reliability, risk indicators, competitive positioning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Product-Market Fit Proven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33333"/>
                </a:solidFill>
              </a:defRPr>
            </a:pPr>
            <a:r>
              <a:t>Document Accuracy: 95.3% (industry benchmark: 88-92%)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33333"/>
                </a:solidFill>
              </a:defRPr>
            </a:pPr>
            <a:r>
              <a:t>Implementation: 2-3 weeks (vs Coupa: 4-6 months)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33333"/>
                </a:solidFill>
              </a:defRPr>
            </a:pPr>
            <a:r>
              <a:t>Cost: $5-50K (vs Coupa: $500K-$1.5M)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200" b="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2000" b="1">
                <a:solidFill>
                  <a:srgbClr val="333333"/>
                </a:solidFill>
              </a:defRPr>
            </a:pPr>
            <a:r>
              <a:t>Customer Validation: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 b="0">
                <a:solidFill>
                  <a:srgbClr val="333333"/>
                </a:solidFill>
              </a:defRPr>
            </a:pPr>
            <a:r>
              <a:t>47+ expressions of interest in beta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 b="0">
                <a:solidFill>
                  <a:srgbClr val="333333"/>
                </a:solidFill>
              </a:defRPr>
            </a:pPr>
            <a:r>
              <a:t>Early adopters showing ROI within 8 weeks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 b="0">
                <a:solidFill>
                  <a:srgbClr val="333333"/>
                </a:solidFill>
              </a:defRPr>
            </a:pPr>
            <a:r>
              <a:t>Pricing tiers validated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Market 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2200" b="1">
                <a:solidFill>
                  <a:srgbClr val="FF6600"/>
                </a:solidFill>
              </a:defRPr>
            </a:pPr>
            <a:r>
              <a:t>Year 1 Revenue Target: $6.2M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 b="0">
                <a:solidFill>
                  <a:srgbClr val="333333"/>
                </a:solidFill>
              </a:defRPr>
            </a:pPr>
            <a:r>
              <a:t>Procurement-focused SMEs: 625 customers @ $499-2,499/month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 b="0">
                <a:solidFill>
                  <a:srgbClr val="333333"/>
                </a:solidFill>
              </a:defRPr>
            </a:pPr>
            <a:r>
              <a:t>Trade &amp; Import/Export: 64 customers @ $2,499-9,999/month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 b="0">
                <a:solidFill>
                  <a:srgbClr val="333333"/>
                </a:solidFill>
              </a:defRPr>
            </a:pPr>
            <a:r>
              <a:t>Manufacturing/Processing: 72 customers @ $1,499-5,999/month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 b="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2000" b="1">
                <a:solidFill>
                  <a:srgbClr val="333333"/>
                </a:solidFill>
              </a:defRPr>
            </a:pPr>
            <a:r>
              <a:t>Long-term Market: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 b="0">
                <a:solidFill>
                  <a:srgbClr val="333333"/>
                </a:solidFill>
              </a:defRPr>
            </a:pPr>
            <a:r>
              <a:t>GCC Serviceable Addressable Market: $1.26 Trillion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 b="0">
                <a:solidFill>
                  <a:srgbClr val="333333"/>
                </a:solidFill>
              </a:defRPr>
            </a:pPr>
            <a:r>
              <a:t>Year 5-7 Revenue Potential: $6.3B-$12.6B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Unit Economics (Why This Works)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2400" b="1">
                <a:solidFill>
                  <a:srgbClr val="FF6600"/>
                </a:solidFill>
              </a:defRPr>
            </a:pPr>
            <a:r>
              <a:t>Blended LTV:CAC Ratio: 5.3x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400" b="0">
                <a:solidFill>
                  <a:srgbClr val="333333"/>
                </a:solidFill>
              </a:defRPr>
            </a:pPr>
            <a:r>
              <a:t>Benchmark excellent: &gt;3x is great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200" b="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2000" b="1">
                <a:solidFill>
                  <a:srgbClr val="333333"/>
                </a:solidFill>
              </a:defRPr>
            </a:pPr>
            <a:r>
              <a:t>Blended CAC: $2,850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 b="1">
                <a:solidFill>
                  <a:srgbClr val="333333"/>
                </a:solidFill>
              </a:defRPr>
            </a:pPr>
            <a:r>
              <a:t>Blended LTV (24 months): $15,240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 b="1">
                <a:solidFill>
                  <a:srgbClr val="333333"/>
                </a:solidFill>
              </a:defRPr>
            </a:pPr>
            <a:r>
              <a:t>Payback Period: 3.7 months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 b="1">
                <a:solidFill>
                  <a:srgbClr val="333333"/>
                </a:solidFill>
              </a:defRPr>
            </a:pPr>
            <a:r>
              <a:t>Gross Margin: 91%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200" b="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600" b="0">
                <a:solidFill>
                  <a:srgbClr val="003366"/>
                </a:solidFill>
              </a:defRPr>
            </a:pPr>
            <a:r>
              <a:t>Implication: Every $1 CAC generates $5.30 LTV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5-Year Financial Projection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97280"/>
          <a:ext cx="8229600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371600"/>
                <a:gridCol w="1371600"/>
                <a:gridCol w="1371600"/>
                <a:gridCol w="1371600"/>
                <a:gridCol w="1371600"/>
              </a:tblGrid>
              <a:tr h="662940"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FFFFFF"/>
                          </a:solidFill>
                        </a:rPr>
                        <a:t>Metric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FFFFFF"/>
                          </a:solidFill>
                        </a:rPr>
                        <a:t>Year 1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FFFFFF"/>
                          </a:solidFill>
                        </a:rPr>
                        <a:t>Year 2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FFFFFF"/>
                          </a:solidFill>
                        </a:rPr>
                        <a:t>Year 3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FFFFFF"/>
                          </a:solidFill>
                        </a:rPr>
                        <a:t>Year 4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FFFFFF"/>
                          </a:solidFill>
                        </a:rPr>
                        <a:t>Year 5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662940">
                <a:tc>
                  <a:txBody>
                    <a:bodyPr/>
                    <a:lstStyle/>
                    <a:p>
                      <a:r>
                        <a:rPr sz="1400" b="1"/>
                        <a:t>Customers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560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1,200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2,500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4,000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5,500+</a:t>
                      </a:r>
                    </a:p>
                  </a:txBody>
                  <a:tcPr/>
                </a:tc>
              </a:tr>
              <a:tr h="662940">
                <a:tc>
                  <a:txBody>
                    <a:bodyPr/>
                    <a:lstStyle/>
                    <a:p>
                      <a:r>
                        <a:rPr sz="1400" b="1"/>
                        <a:t>ARR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/>
                        <a:t>$5.8M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/>
                        <a:t>$18.2M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/>
                        <a:t>$58M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/>
                        <a:t>$92M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/>
                        <a:t>$135M+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662940">
                <a:tc>
                  <a:txBody>
                    <a:bodyPr/>
                    <a:lstStyle/>
                    <a:p>
                      <a:r>
                        <a:rPr sz="1400" b="1"/>
                        <a:t>Revenue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$6.2M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$19.8M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$62M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$100M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$147M+</a:t>
                      </a:r>
                    </a:p>
                  </a:txBody>
                  <a:tcPr/>
                </a:tc>
              </a:tr>
              <a:tr h="662940">
                <a:tc>
                  <a:txBody>
                    <a:bodyPr/>
                    <a:lstStyle/>
                    <a:p>
                      <a:r>
                        <a:rPr sz="1400" b="1"/>
                        <a:t>EBITDA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/>
                        <a:t>$3.4M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/>
                        <a:t>$12.2M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/>
                        <a:t>$42.5M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/>
                        <a:t>$68.5M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/>
                        <a:t>$100.3M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662940">
                <a:tc>
                  <a:txBody>
                    <a:bodyPr/>
                    <a:lstStyle/>
                    <a:p>
                      <a:r>
                        <a:rPr sz="1400" b="1"/>
                        <a:t>EBITDA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55%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62%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69%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69%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68%</a:t>
                      </a:r>
                    </a:p>
                  </a:txBody>
                  <a:tcPr/>
                </a:tc>
              </a:tr>
              <a:tr h="662940">
                <a:tc>
                  <a:txBody>
                    <a:bodyPr/>
                    <a:lstStyle/>
                    <a:p>
                      <a:r>
                        <a:rPr sz="1400" b="1"/>
                        <a:t>FCF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/>
                        <a:t>$2.8M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/>
                        <a:t>$10.5M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/>
                        <a:t>$38M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/>
                        <a:t>$62M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/>
                        <a:t>$90M+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662940">
                <a:tc>
                  <a:txBody>
                    <a:bodyPr/>
                    <a:lstStyle/>
                    <a:p>
                      <a:r>
                        <a:rPr sz="1400" b="1"/>
                        <a:t>Status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✓ Profitable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↑ Scaling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↑ Growth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↑ Expansion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↑ Scale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Go-to-Market Strategy (Year 1)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2000" b="1">
                <a:solidFill>
                  <a:srgbClr val="333333"/>
                </a:solidFill>
              </a:defRPr>
            </a:pPr>
            <a:r>
              <a:t>45% Direct Sales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400" b="0">
                <a:solidFill>
                  <a:srgbClr val="333333"/>
                </a:solidFill>
              </a:defRPr>
            </a:pPr>
            <a:r>
              <a:t>252 customers | $2,500 CAC | Sales team: 2 AEs + 1 SDR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 b="1">
                <a:solidFill>
                  <a:srgbClr val="333333"/>
                </a:solidFill>
              </a:defRPr>
            </a:pPr>
            <a:r>
              <a:t>30% Freemium/Trial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400" b="0">
                <a:solidFill>
                  <a:srgbClr val="333333"/>
                </a:solidFill>
              </a:defRPr>
            </a:pPr>
            <a:r>
              <a:t>168 customers | $800 CAC | Self-serve path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 b="1">
                <a:solidFill>
                  <a:srgbClr val="333333"/>
                </a:solidFill>
              </a:defRPr>
            </a:pPr>
            <a:r>
              <a:t>15% Partnerships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400" b="0">
                <a:solidFill>
                  <a:srgbClr val="333333"/>
                </a:solidFill>
              </a:defRPr>
            </a:pPr>
            <a:r>
              <a:t>84 customers | $1,200 CAC | System integrator channels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 b="1">
                <a:solidFill>
                  <a:srgbClr val="333333"/>
                </a:solidFill>
              </a:defRPr>
            </a:pPr>
            <a:r>
              <a:t>10% Content/Marketing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400" b="0">
                <a:solidFill>
                  <a:srgbClr val="333333"/>
                </a:solidFill>
              </a:defRPr>
            </a:pPr>
            <a:r>
              <a:t>56 customers | $600 CAC | Inbound demand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Competitive Positioning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3931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3366"/>
                </a:solidFill>
              </a:defRPr>
            </a:pPr>
            <a:r>
              <a:t>COUPA POSITION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3931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600"/>
            </a:pPr>
            <a:r>
              <a:t>Market: Enterprise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/>
            </a:pPr>
            <a:r>
              <a:t>Size: $500B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/>
            </a:pPr>
            <a:r>
              <a:t>Customers: Fortune 500+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/>
            </a:pPr>
            <a:r>
              <a:t>Competition: High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/>
            </a:pPr>
            <a:r>
              <a:t>Price: $500K+ implementation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005840"/>
            <a:ext cx="3931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6600"/>
                </a:solidFill>
              </a:defRPr>
            </a:pPr>
            <a:r>
              <a:t>KRAFTD POSITION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1463040"/>
            <a:ext cx="3931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600"/>
            </a:pPr>
            <a:r>
              <a:t>Market: SME/Supplier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/>
            </a:pPr>
            <a:r>
              <a:t>Size: $2.5 Trillion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/>
            </a:pPr>
            <a:r>
              <a:t>Customers: All companies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/>
            </a:pPr>
            <a:r>
              <a:t>Competition: Zero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/>
            </a:pPr>
            <a:r>
              <a:t>Price: $5-50K/month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The Manifesto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2000" b="1">
                <a:solidFill>
                  <a:srgbClr val="333333"/>
                </a:solidFill>
              </a:defRPr>
            </a:pPr>
            <a:r>
              <a:t>Intelligence should not require ERP maturity.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 b="1">
                <a:solidFill>
                  <a:srgbClr val="333333"/>
                </a:solidFill>
              </a:defRPr>
            </a:pPr>
            <a:r>
              <a:t>Insight should not require API readiness.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 b="1">
                <a:solidFill>
                  <a:srgbClr val="333333"/>
                </a:solidFill>
              </a:defRPr>
            </a:pPr>
            <a:r>
              <a:t>Credibility should not require scale.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 b="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2000" b="1">
                <a:solidFill>
                  <a:srgbClr val="FF6600"/>
                </a:solidFill>
              </a:defRPr>
            </a:pPr>
            <a:r>
              <a:t>If an SME can operate a business, it should be able to operate with intelligence.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Investment Opportunity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2800" b="1">
                <a:solidFill>
                  <a:srgbClr val="FF6600"/>
                </a:solidFill>
              </a:defRPr>
            </a:pPr>
            <a:r>
              <a:t>Series A: $2-3M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200" b="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2000" b="1">
                <a:solidFill>
                  <a:srgbClr val="333333"/>
                </a:solidFill>
              </a:defRPr>
            </a:pPr>
            <a:r>
              <a:t>Use of Funds: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400" b="0">
                <a:solidFill>
                  <a:srgbClr val="333333"/>
                </a:solidFill>
              </a:defRPr>
            </a:pPr>
            <a:r>
              <a:t>Sales &amp; GTM: $850K | Marketing: $450K | Product: $350K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400" b="0">
                <a:solidFill>
                  <a:srgbClr val="333333"/>
                </a:solidFill>
              </a:defRPr>
            </a:pPr>
            <a:r>
              <a:t>Customer Success: $300K | Operations: $200K | Buffer: $200K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200" b="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2000" b="1">
                <a:solidFill>
                  <a:srgbClr val="333333"/>
                </a:solidFill>
              </a:defRPr>
            </a:pPr>
            <a:r>
              <a:t>Return Scenarios: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400" b="0">
                <a:solidFill>
                  <a:srgbClr val="333333"/>
                </a:solidFill>
              </a:defRPr>
            </a:pPr>
            <a:r>
              <a:t>Base Case (Year 5): 25-35x return | $2-3B exit valuation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400" b="0">
                <a:solidFill>
                  <a:srgbClr val="333333"/>
                </a:solidFill>
              </a:defRPr>
            </a:pPr>
            <a:r>
              <a:t>Upside Case (Year 4): 50-60x return | $3-4B exit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400" b="0">
                <a:solidFill>
                  <a:srgbClr val="333333"/>
                </a:solidFill>
              </a:defRPr>
            </a:pPr>
            <a:r>
              <a:t>IPO Case (Year 6-7): 100-150x return | $5-10B valuation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Risk Mitigation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600" b="0">
                <a:solidFill>
                  <a:srgbClr val="333333"/>
                </a:solidFill>
              </a:defRPr>
            </a:pPr>
            <a:r>
              <a:t>Market Adoption Risk: Early customer validation, freemium model, partnerships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 b="0">
                <a:solidFill>
                  <a:srgbClr val="333333"/>
                </a:solidFill>
              </a:defRPr>
            </a:pPr>
            <a:r>
              <a:t>Churn &amp; Retention: Net revenue retention &gt;110%, dedicated CSM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 b="0">
                <a:solidFill>
                  <a:srgbClr val="333333"/>
                </a:solidFill>
              </a:defRPr>
            </a:pPr>
            <a:r>
              <a:t>Technology Risk: 95% accuracy proven, redundant architecture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 b="0">
                <a:solidFill>
                  <a:srgbClr val="333333"/>
                </a:solidFill>
              </a:defRPr>
            </a:pPr>
            <a:r>
              <a:t>Sales Execution: Experienced VP Sales hire, founder sales track record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 b="0">
                <a:solidFill>
                  <a:srgbClr val="333333"/>
                </a:solidFill>
              </a:defRPr>
            </a:pPr>
            <a:r>
              <a:t>Funding Risk: 18+ months runway on $2M, profitable by Year 1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 b="0">
                <a:solidFill>
                  <a:srgbClr val="333333"/>
                </a:solidFill>
              </a:defRPr>
            </a:pPr>
            <a:r>
              <a:t>Economic Downturn: ROI-positive, compliance-driven spend continues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The Investment Thesis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2000" b="1">
                <a:solidFill>
                  <a:srgbClr val="FF6600"/>
                </a:solidFill>
              </a:defRPr>
            </a:pPr>
            <a:r>
              <a:t>$2.5T market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 b="0">
                <a:solidFill>
                  <a:srgbClr val="333333"/>
                </a:solidFill>
              </a:defRPr>
            </a:pPr>
            <a:r>
              <a:t>Zero competition | Structural moat | Exceptional unit economics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200" b="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2000" b="1">
                <a:solidFill>
                  <a:srgbClr val="FF6600"/>
                </a:solidFill>
              </a:defRPr>
            </a:pPr>
            <a:r>
              <a:t>Solving supply chain intelligence equity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 b="0">
                <a:solidFill>
                  <a:srgbClr val="333333"/>
                </a:solidFill>
              </a:defRPr>
            </a:pPr>
            <a:r>
              <a:t>Manifesto-driven mission meets venture opportunity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200" b="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2000" b="1">
                <a:solidFill>
                  <a:srgbClr val="FF6600"/>
                </a:solidFill>
              </a:defRPr>
            </a:pPr>
            <a:r>
              <a:t>Profitable by Year 1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 b="0">
                <a:solidFill>
                  <a:srgbClr val="333333"/>
                </a:solidFill>
              </a:defRPr>
            </a:pPr>
            <a:r>
              <a:t>55% EBITDA margin Year 1 | 90% gross margin | Capital efficient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6600"/>
                </a:solidFill>
              </a:defRPr>
            </a:pPr>
            <a:r>
              <a:t>Category Creation Opportunity</a:t>
            </a:r>
          </a:p>
          <a:p>
            <a:pPr algn="ctr">
              <a:defRPr sz="3200">
                <a:solidFill>
                  <a:srgbClr val="FFFFFF"/>
                </a:solidFill>
              </a:defRPr>
            </a:pPr>
            <a:r>
              <a:t>Let's build intelligence equity together</a:t>
            </a:r>
          </a:p>
          <a:p/>
          <a:p>
            <a:pPr algn="ctr">
              <a:defRPr sz="1800">
                <a:solidFill>
                  <a:srgbClr val="C8C8C8"/>
                </a:solidFill>
              </a:defRPr>
            </a:pPr>
            <a:r>
              <a:t>Contact: contact@kraftd.io | Demo: demo.kraftd.io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